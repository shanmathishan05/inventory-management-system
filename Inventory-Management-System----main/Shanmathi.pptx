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lear Sans" panose="020B0604020202020204" charset="0"/>
      <p:regular r:id="rId13"/>
    </p:embeddedFont>
    <p:embeddedFont>
      <p:font typeface="Clear Sans Bold" panose="020B0604020202020204" charset="0"/>
      <p:regular r:id="rId14"/>
    </p:embeddedFont>
    <p:embeddedFont>
      <p:font typeface="Impact" panose="020B0806030902050204" pitchFamily="3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Open Sans Bold" panose="020B0806030504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864647" y="5143500"/>
            <a:ext cx="4071742" cy="2549717"/>
          </a:xfrm>
          <a:custGeom>
            <a:avLst/>
            <a:gdLst/>
            <a:ahLst/>
            <a:cxnLst/>
            <a:rect l="l" t="t" r="r" b="b"/>
            <a:pathLst>
              <a:path w="4071742" h="2549717">
                <a:moveTo>
                  <a:pt x="0" y="0"/>
                </a:moveTo>
                <a:lnTo>
                  <a:pt x="4071743" y="0"/>
                </a:lnTo>
                <a:lnTo>
                  <a:pt x="4071743" y="2549717"/>
                </a:lnTo>
                <a:lnTo>
                  <a:pt x="0" y="25497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647359" y="2195722"/>
            <a:ext cx="10830785" cy="337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6"/>
              </a:lnSpc>
            </a:pPr>
            <a:r>
              <a:rPr lang="en-US" sz="7568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JAVA-BASED ENTERPRISE INVENTORY </a:t>
            </a:r>
          </a:p>
          <a:p>
            <a:pPr algn="ctr">
              <a:lnSpc>
                <a:spcPts val="6206"/>
              </a:lnSpc>
            </a:pPr>
            <a:r>
              <a:rPr lang="en-US" sz="7568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MANAGEMENT SYSTEM</a:t>
            </a:r>
          </a:p>
          <a:p>
            <a:pPr algn="ctr">
              <a:lnSpc>
                <a:spcPts val="6206"/>
              </a:lnSpc>
            </a:pPr>
            <a:endParaRPr lang="en-US" sz="7568">
              <a:solidFill>
                <a:srgbClr val="262F4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496380" y="7978105"/>
            <a:ext cx="6808278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6"/>
              </a:lnSpc>
            </a:pPr>
            <a:r>
              <a:rPr lang="en-US" sz="3206" dirty="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Project Code: #z-13-18 </a:t>
            </a:r>
          </a:p>
          <a:p>
            <a:pPr algn="ctr">
              <a:lnSpc>
                <a:spcPts val="3206"/>
              </a:lnSpc>
            </a:pPr>
            <a:r>
              <a:rPr lang="en-US" sz="3206" dirty="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Presented by: </a:t>
            </a:r>
          </a:p>
          <a:p>
            <a:pPr algn="ctr">
              <a:lnSpc>
                <a:spcPts val="3206"/>
              </a:lnSpc>
            </a:pPr>
            <a:r>
              <a:rPr lang="en-US" sz="32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Kathir&amp; </a:t>
            </a:r>
            <a:r>
              <a:rPr lang="en-US" sz="3206" dirty="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Team </a:t>
            </a:r>
          </a:p>
          <a:p>
            <a:pPr algn="ctr">
              <a:lnSpc>
                <a:spcPts val="3206"/>
              </a:lnSpc>
            </a:pPr>
            <a:r>
              <a:rPr lang="en-US" sz="3206" dirty="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Batch- 13</a:t>
            </a:r>
          </a:p>
          <a:p>
            <a:pPr algn="ctr">
              <a:lnSpc>
                <a:spcPts val="3206"/>
              </a:lnSpc>
            </a:pPr>
            <a:endParaRPr lang="en-US" sz="3206" dirty="0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481160" y="1395062"/>
            <a:ext cx="4267960" cy="860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Introduction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Problem Statement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Project Objectives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System Architecture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Technology Stack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System Modules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Database Design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Key Features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Conclusion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Future Scope</a:t>
            </a:r>
          </a:p>
          <a:p>
            <a:pPr marL="675517" lvl="1" indent="-337758" algn="just">
              <a:lnSpc>
                <a:spcPts val="6257"/>
              </a:lnSpc>
              <a:buFont typeface="Arial"/>
              <a:buChar char="•"/>
            </a:pPr>
            <a:r>
              <a:rPr lang="en-US" sz="3128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Team Details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64548" y="801688"/>
            <a:ext cx="4083487" cy="53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35223" y="945772"/>
            <a:ext cx="6916348" cy="1237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5"/>
              </a:lnSpc>
            </a:pPr>
            <a:r>
              <a:rPr lang="en-US" sz="9067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INTRODUCTION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128666" y="1791346"/>
            <a:ext cx="12247676" cy="807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2294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Inventory Management Overview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Ensures products are available in the right quantity at the right time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Helps reduce operational costs and avoid stock shortages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Improves overall customer satisfaction</a:t>
            </a:r>
          </a:p>
          <a:p>
            <a:pPr algn="just">
              <a:lnSpc>
                <a:spcPts val="4589"/>
              </a:lnSpc>
            </a:pPr>
            <a:r>
              <a:rPr lang="en-US" sz="2294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Challenges in Manual Systems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High chances of human errors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Delayed stock updates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No real-time inventory tracking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Limited reporting capabilities</a:t>
            </a:r>
          </a:p>
          <a:p>
            <a:pPr algn="just">
              <a:lnSpc>
                <a:spcPts val="4589"/>
              </a:lnSpc>
            </a:pPr>
            <a:r>
              <a:rPr lang="en-US" sz="2294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Need for Automation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Real-time inventory tracking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Automated stock updates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Data-driven reporting &amp; analytics</a:t>
            </a:r>
          </a:p>
          <a:p>
            <a:pPr marL="495398" lvl="1" indent="-247699" algn="just">
              <a:lnSpc>
                <a:spcPts val="4589"/>
              </a:lnSpc>
              <a:buFont typeface="Arial"/>
              <a:buChar char="•"/>
            </a:pPr>
            <a:r>
              <a:rPr lang="en-US" sz="2294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Low-stock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31958" y="826496"/>
            <a:ext cx="9734818" cy="121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 Project Objective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37438" y="1931529"/>
            <a:ext cx="10740706" cy="7889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3"/>
              </a:lnSpc>
            </a:pPr>
            <a:r>
              <a:rPr lang="en-US" sz="2636" b="1">
                <a:solidFill>
                  <a:srgbClr val="262F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1.Automate Inventory Tracking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Develop a system to efficiently manage and update product stock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levels in real time. </a:t>
            </a:r>
          </a:p>
          <a:p>
            <a:pPr algn="l">
              <a:lnSpc>
                <a:spcPts val="5273"/>
              </a:lnSpc>
            </a:pPr>
            <a:r>
              <a:rPr lang="en-US" sz="2636" b="1">
                <a:solidFill>
                  <a:srgbClr val="262F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2.Implement Secure User Access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Provide role-based authentication (Admin/User) to ensure secure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access and controlled inventory operations. </a:t>
            </a:r>
          </a:p>
          <a:p>
            <a:pPr algn="l">
              <a:lnSpc>
                <a:spcPts val="5273"/>
              </a:lnSpc>
            </a:pPr>
            <a:r>
              <a:rPr lang="en-US" sz="2636" b="1">
                <a:solidFill>
                  <a:srgbClr val="262F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3.Generate Inventory Reports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Enable generation and export of inventory data such as stock details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and summaries for analysis. </a:t>
            </a:r>
          </a:p>
          <a:p>
            <a:pPr algn="l">
              <a:lnSpc>
                <a:spcPts val="5273"/>
              </a:lnSpc>
            </a:pPr>
            <a:r>
              <a:rPr lang="en-US" sz="2636" b="1">
                <a:solidFill>
                  <a:srgbClr val="262F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4.Monitor Stock Levels and Alerts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Detect low-stock products and notify users to maintain optimal </a:t>
            </a:r>
          </a:p>
          <a:p>
            <a:pPr algn="l">
              <a:lnSpc>
                <a:spcPts val="5273"/>
              </a:lnSpc>
            </a:pPr>
            <a:r>
              <a:rPr lang="en-US" sz="2636">
                <a:solidFill>
                  <a:srgbClr val="262F43"/>
                </a:solidFill>
                <a:latin typeface="Open Sans"/>
                <a:ea typeface="Open Sans"/>
                <a:cs typeface="Open Sans"/>
                <a:sym typeface="Open Sans"/>
              </a:rPr>
              <a:t>inventory levels and prevent shortages.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-1565811" y="594036"/>
            <a:ext cx="13598585" cy="121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SYSTEM ARCHITECTURE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99673" y="1723957"/>
            <a:ext cx="12290684" cy="896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6"/>
              </a:lnSpc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The system follows a layered architecture to ensure scalability, maintainability, and smooth data flow.</a:t>
            </a:r>
          </a:p>
          <a:p>
            <a:pPr algn="l">
              <a:lnSpc>
                <a:spcPts val="5896"/>
              </a:lnSpc>
            </a:pPr>
            <a:r>
              <a:rPr lang="en-US" sz="29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Layers: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User Interface (Frontend)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Built with HTML, CSS, Bootstrap, Thymeleaf; handles user interaction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Controller Layer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Processes requests and connects frontend with backend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Service Layer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Contains business logic and manages inventory operations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Repository Layer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Handles database operations using Spring Data JPA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Database Layer</a:t>
            </a:r>
          </a:p>
          <a:p>
            <a:pPr marL="550186" lvl="1" indent="-275093" algn="l">
              <a:lnSpc>
                <a:spcPts val="5096"/>
              </a:lnSpc>
              <a:buFont typeface="Arial"/>
              <a:buChar char="•"/>
            </a:pPr>
            <a:r>
              <a:rPr lang="en-US" sz="2548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 Stores users, products, and inventory data (MySQL)</a:t>
            </a:r>
          </a:p>
          <a:p>
            <a:pPr algn="l">
              <a:lnSpc>
                <a:spcPts val="5096"/>
              </a:lnSpc>
            </a:pPr>
            <a:endParaRPr lang="en-US" sz="2548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293847" y="1608833"/>
            <a:ext cx="6705241" cy="8171215"/>
          </a:xfrm>
          <a:custGeom>
            <a:avLst/>
            <a:gdLst/>
            <a:ahLst/>
            <a:cxnLst/>
            <a:rect l="l" t="t" r="r" b="b"/>
            <a:pathLst>
              <a:path w="6705241" h="8171215">
                <a:moveTo>
                  <a:pt x="0" y="0"/>
                </a:moveTo>
                <a:lnTo>
                  <a:pt x="6705241" y="0"/>
                </a:lnTo>
                <a:lnTo>
                  <a:pt x="6705241" y="8171216"/>
                </a:lnTo>
                <a:lnTo>
                  <a:pt x="0" y="81712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-1506194" y="452033"/>
            <a:ext cx="12188541" cy="2466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TECHNOLOGY STACK</a:t>
            </a:r>
          </a:p>
          <a:p>
            <a:pPr algn="ctr">
              <a:lnSpc>
                <a:spcPts val="9418"/>
              </a:lnSpc>
            </a:pPr>
            <a:endParaRPr lang="en-US" sz="9000">
              <a:solidFill>
                <a:srgbClr val="262F4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-1066367" y="667115"/>
            <a:ext cx="10437990" cy="214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SYSTEM MODULES</a:t>
            </a:r>
          </a:p>
          <a:p>
            <a:pPr algn="ctr">
              <a:lnSpc>
                <a:spcPts val="7380"/>
              </a:lnSpc>
            </a:pPr>
            <a:endParaRPr lang="en-US" sz="9000">
              <a:solidFill>
                <a:srgbClr val="262F4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034535" y="2495740"/>
            <a:ext cx="12674177" cy="6319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1. Inventory Tracking Engine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Manages core inventory operations such as adding products, updating stock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levels, and viewing product details. It ensures accurate tracking of inventory data. 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2. User Authentication System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Provides secure login and role-based access control to ensure that only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authorized users can manage or modify inventory information. 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3. Reporting and CSV Integration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Generates inventory reports and summaries and allows exporting data into CSV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files for analysis and record-keeping. 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4. Stock Alert System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Monitors inventory levels and detects low-stock products, helping users reorder </a:t>
            </a:r>
          </a:p>
          <a:p>
            <a:pPr algn="l">
              <a:lnSpc>
                <a:spcPts val="3714"/>
              </a:lnSpc>
            </a:pPr>
            <a:r>
              <a:rPr lang="en-US" sz="2652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items on time and avoid shortages.</a:t>
            </a:r>
          </a:p>
          <a:p>
            <a:pPr algn="l">
              <a:lnSpc>
                <a:spcPts val="3714"/>
              </a:lnSpc>
            </a:pPr>
            <a:endParaRPr lang="en-US" sz="2652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-346183" y="452033"/>
            <a:ext cx="9159943" cy="214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DATABASE DESIGN</a:t>
            </a:r>
          </a:p>
          <a:p>
            <a:pPr algn="ctr">
              <a:lnSpc>
                <a:spcPts val="7380"/>
              </a:lnSpc>
            </a:pPr>
            <a:endParaRPr lang="en-US" sz="9000">
              <a:solidFill>
                <a:srgbClr val="262F4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099913" y="2179996"/>
            <a:ext cx="13142778" cy="731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sz="396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Uses MySQL to store and manage inventory data.</a:t>
            </a:r>
          </a:p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Tables:</a:t>
            </a:r>
          </a:p>
          <a:p>
            <a:pPr marL="854987" lvl="1" indent="-427493" algn="l">
              <a:lnSpc>
                <a:spcPts val="5544"/>
              </a:lnSpc>
              <a:buFont typeface="Arial"/>
              <a:buChar char="•"/>
            </a:pPr>
            <a:r>
              <a:rPr lang="en-US" sz="396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Users → user_id, username, password, role</a:t>
            </a:r>
          </a:p>
          <a:p>
            <a:pPr marL="854987" lvl="1" indent="-427493" algn="l">
              <a:lnSpc>
                <a:spcPts val="5544"/>
              </a:lnSpc>
              <a:buFont typeface="Arial"/>
              <a:buChar char="•"/>
            </a:pPr>
            <a:r>
              <a:rPr lang="en-US" sz="396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Products → product_id, name, category, price, quantity</a:t>
            </a:r>
          </a:p>
          <a:p>
            <a:pPr marL="854987" lvl="1" indent="-427493" algn="l">
              <a:lnSpc>
                <a:spcPts val="5544"/>
              </a:lnSpc>
              <a:buFont typeface="Arial"/>
              <a:buChar char="•"/>
            </a:pPr>
            <a:r>
              <a:rPr lang="en-US" sz="396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Inventory → inventory_id, product_id, stock_level, last_updated</a:t>
            </a:r>
          </a:p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Relationship:</a:t>
            </a:r>
          </a:p>
          <a:p>
            <a:pPr marL="854964" lvl="1" indent="-427482" algn="l">
              <a:lnSpc>
                <a:spcPts val="5543"/>
              </a:lnSpc>
              <a:buFont typeface="Arial"/>
              <a:buChar char="•"/>
            </a:pPr>
            <a:r>
              <a:rPr lang="en-US" sz="3959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Each product is linked to its inventory details</a:t>
            </a:r>
          </a:p>
          <a:p>
            <a:pPr algn="ctr">
              <a:lnSpc>
                <a:spcPts val="5544"/>
              </a:lnSpc>
            </a:pPr>
            <a:endParaRPr lang="en-US" sz="3959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-590818" y="452033"/>
            <a:ext cx="9159943" cy="2148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KEY FEATURES</a:t>
            </a:r>
          </a:p>
          <a:p>
            <a:pPr algn="ctr">
              <a:lnSpc>
                <a:spcPts val="7380"/>
              </a:lnSpc>
            </a:pPr>
            <a:endParaRPr lang="en-US" sz="9000">
              <a:solidFill>
                <a:srgbClr val="262F4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168452" y="1600441"/>
            <a:ext cx="10309692" cy="8514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1.User Login &amp; Signup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2.Role-based access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(Admin/User)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3.Add / Update products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4.Stock update system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5.Low stock alerts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6.Dashboard analytics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7.Graph visualization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8.CSV export reports </a:t>
            </a:r>
          </a:p>
          <a:p>
            <a:pPr algn="l">
              <a:lnSpc>
                <a:spcPts val="6212"/>
              </a:lnSpc>
            </a:pPr>
            <a:r>
              <a:rPr lang="en-US" sz="3106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9.Search and filtering</a:t>
            </a:r>
          </a:p>
          <a:p>
            <a:pPr algn="l">
              <a:lnSpc>
                <a:spcPts val="6212"/>
              </a:lnSpc>
            </a:pPr>
            <a:endParaRPr lang="en-US" sz="3106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-1298568" y="774667"/>
            <a:ext cx="9159943" cy="121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0"/>
              </a:lnSpc>
            </a:pPr>
            <a:r>
              <a:rPr lang="en-US" sz="9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35518" y="2077640"/>
            <a:ext cx="13650073" cy="61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</a:t>
            </a: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.Developed a Java-based inventory management system that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automates product tracking, secure authentication, and real-time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stock monitoring. </a:t>
            </a:r>
          </a:p>
          <a:p>
            <a:pPr algn="just">
              <a:lnSpc>
                <a:spcPts val="4900"/>
              </a:lnSpc>
            </a:pPr>
            <a:r>
              <a:rPr lang="en-US" sz="35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</a:t>
            </a: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.Replaces manual inventory methods, reducing errors and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improving operational efficiency through features like stock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alerts, reporting, and role-based access. </a:t>
            </a:r>
          </a:p>
          <a:p>
            <a:pPr algn="just">
              <a:lnSpc>
                <a:spcPts val="4900"/>
              </a:lnSpc>
            </a:pPr>
            <a:r>
              <a:rPr lang="en-US" sz="3500" b="1">
                <a:solidFill>
                  <a:srgbClr val="262F43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3</a:t>
            </a: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.Built with a modular design, allowing future enhancements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such as email notifications, advanced analytics, and cloud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62F43"/>
                </a:solidFill>
                <a:latin typeface="Clear Sans"/>
                <a:ea typeface="Clear Sans"/>
                <a:cs typeface="Clear Sans"/>
                <a:sym typeface="Clear Sans"/>
              </a:rPr>
              <a:t>deployment.</a:t>
            </a:r>
          </a:p>
          <a:p>
            <a:pPr algn="just">
              <a:lnSpc>
                <a:spcPts val="4900"/>
              </a:lnSpc>
            </a:pPr>
            <a:endParaRPr lang="en-US" sz="3500">
              <a:solidFill>
                <a:srgbClr val="262F43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171306" y="9499384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5223" y="94993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1306" y="8492855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 flipH="1" flipV="1">
            <a:off x="-171306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171306" y="74863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835223" y="64797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-171306" y="5473268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 flipV="1">
            <a:off x="17500852" y="-203632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5487794" y="-203632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0800000">
            <a:off x="16494323" y="802897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7500852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94323" y="1809426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0"/>
                </a:moveTo>
                <a:lnTo>
                  <a:pt x="2013058" y="0"/>
                </a:lnTo>
                <a:lnTo>
                  <a:pt x="2013058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 flipV="1">
            <a:off x="16494323" y="28159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16494323" y="3822484"/>
            <a:ext cx="2013058" cy="1006529"/>
          </a:xfrm>
          <a:custGeom>
            <a:avLst/>
            <a:gdLst/>
            <a:ahLst/>
            <a:cxnLst/>
            <a:rect l="l" t="t" r="r" b="b"/>
            <a:pathLst>
              <a:path w="2013058" h="1006529">
                <a:moveTo>
                  <a:pt x="0" y="1006529"/>
                </a:moveTo>
                <a:lnTo>
                  <a:pt x="2013058" y="1006529"/>
                </a:lnTo>
                <a:lnTo>
                  <a:pt x="2013058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841752" y="8492855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0"/>
                </a:moveTo>
                <a:lnTo>
                  <a:pt x="1006529" y="0"/>
                </a:lnTo>
                <a:lnTo>
                  <a:pt x="1006529" y="1006529"/>
                </a:lnTo>
                <a:lnTo>
                  <a:pt x="0" y="1006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H="1" flipV="1">
            <a:off x="15487794" y="802897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1006529"/>
                </a:moveTo>
                <a:lnTo>
                  <a:pt x="0" y="1006529"/>
                </a:lnTo>
                <a:lnTo>
                  <a:pt x="0" y="0"/>
                </a:lnTo>
                <a:lnTo>
                  <a:pt x="1006529" y="0"/>
                </a:lnTo>
                <a:lnTo>
                  <a:pt x="1006529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 flipH="1">
            <a:off x="1841752" y="74863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1006529" y="0"/>
                </a:moveTo>
                <a:lnTo>
                  <a:pt x="0" y="0"/>
                </a:lnTo>
                <a:lnTo>
                  <a:pt x="0" y="1006529"/>
                </a:lnTo>
                <a:lnTo>
                  <a:pt x="1006529" y="1006529"/>
                </a:lnTo>
                <a:lnTo>
                  <a:pt x="100652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10800000" flipV="1">
            <a:off x="15487794" y="1809426"/>
            <a:ext cx="1006529" cy="1006529"/>
          </a:xfrm>
          <a:custGeom>
            <a:avLst/>
            <a:gdLst/>
            <a:ahLst/>
            <a:cxnLst/>
            <a:rect l="l" t="t" r="r" b="b"/>
            <a:pathLst>
              <a:path w="1006529" h="1006529">
                <a:moveTo>
                  <a:pt x="0" y="1006529"/>
                </a:moveTo>
                <a:lnTo>
                  <a:pt x="1006529" y="1006529"/>
                </a:lnTo>
                <a:lnTo>
                  <a:pt x="1006529" y="0"/>
                </a:lnTo>
                <a:lnTo>
                  <a:pt x="0" y="0"/>
                </a:lnTo>
                <a:lnTo>
                  <a:pt x="0" y="10065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802858" y="3125245"/>
            <a:ext cx="8682285" cy="4341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53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THANK</a:t>
            </a:r>
          </a:p>
          <a:p>
            <a:pPr algn="ctr">
              <a:lnSpc>
                <a:spcPts val="14853"/>
              </a:lnSpc>
            </a:pPr>
            <a:r>
              <a:rPr lang="en-US" sz="18114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570</Words>
  <Application>Microsoft Office PowerPoint</Application>
  <PresentationFormat>Custom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Clear Sans</vt:lpstr>
      <vt:lpstr>Calibri</vt:lpstr>
      <vt:lpstr>Clear Sans Bold</vt:lpstr>
      <vt:lpstr>Open Sans Bold</vt:lpstr>
      <vt:lpstr>Open Sans</vt:lpstr>
      <vt:lpstr>Impact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Project Presentation</dc:title>
  <dc:creator>sys</dc:creator>
  <cp:lastModifiedBy>yaraganisindhu20007@outlook.com</cp:lastModifiedBy>
  <cp:revision>2</cp:revision>
  <dcterms:created xsi:type="dcterms:W3CDTF">2006-08-16T00:00:00Z</dcterms:created>
  <dcterms:modified xsi:type="dcterms:W3CDTF">2026-03-28T17:34:04Z</dcterms:modified>
  <dc:identifier>DAHEf2cFxNg</dc:identifier>
</cp:coreProperties>
</file>